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7" r:id="rId4"/>
    <p:sldId id="262" r:id="rId5"/>
    <p:sldId id="263" r:id="rId6"/>
    <p:sldId id="266" r:id="rId7"/>
    <p:sldId id="260" r:id="rId8"/>
    <p:sldId id="265" r:id="rId9"/>
  </p:sldIdLst>
  <p:sldSz cx="14630400" cy="8229600"/>
  <p:notesSz cx="8229600" cy="14630400"/>
  <p:embeddedFontLst>
    <p:embeddedFont>
      <p:font typeface="Cabin" panose="020B0604020202020204" charset="0"/>
      <p:regular r:id="rId11"/>
    </p:embeddedFont>
    <p:embeddedFont>
      <p:font typeface="Unbounde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2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26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559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8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image" Target="../media/image3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99752" y="2630102"/>
            <a:ext cx="12680568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Solar Industries India Limited, Nagpur</a:t>
            </a:r>
          </a:p>
          <a:p>
            <a:pPr marL="0" indent="0" algn="l">
              <a:lnSpc>
                <a:spcPts val="5500"/>
              </a:lnSpc>
              <a:buNone/>
            </a:pP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806791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F1AF30C-022C-96D1-E019-0F33D92DA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9752" y="4038135"/>
            <a:ext cx="12309865" cy="2972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Unbounded" pitchFamily="34" charset="0"/>
              </a:rPr>
              <a:t>Solar Industries India Limited is a leading Indian multinational company.</a:t>
            </a:r>
          </a:p>
          <a:p>
            <a:pPr marL="285750" indent="-285750" algn="just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Unbounded" pitchFamily="34" charset="0"/>
              </a:rPr>
              <a:t>Established in 1995, headquartered in Nagpur, Maharashtra.</a:t>
            </a:r>
          </a:p>
          <a:p>
            <a:pPr marL="285750" indent="-285750" algn="just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Unbounded" pitchFamily="34" charset="0"/>
              </a:rPr>
              <a:t>The company is a global manufacturer of industrial explosives and explosive-initiating systems.</a:t>
            </a:r>
          </a:p>
          <a:p>
            <a:pPr marL="285750" indent="-285750" algn="just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Unbounded" pitchFamily="34" charset="0"/>
              </a:rPr>
              <a:t>It serves sectors like mining, infrastructure, defense, and construction.</a:t>
            </a:r>
          </a:p>
          <a:p>
            <a:pPr marL="285750" marR="0" lvl="0" indent="-285750" algn="just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rgbClr val="FFFFFF"/>
                </a:solidFill>
                <a:latin typeface="Unbounded" pitchFamily="34" charset="0"/>
              </a:rPr>
              <a:t>Solar Industries operates multiple manufacturing plants in India and abroad.</a:t>
            </a:r>
          </a:p>
          <a:p>
            <a:pPr marL="285750" marR="0" lvl="0" indent="-285750" algn="just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rgbClr val="FFFFFF"/>
                </a:solidFill>
                <a:latin typeface="Unbounded" pitchFamily="34" charset="0"/>
              </a:rPr>
              <a:t>Known for its focus on safety, innovation, and digital transformation.</a:t>
            </a:r>
          </a:p>
        </p:txBody>
      </p:sp>
      <p:pic>
        <p:nvPicPr>
          <p:cNvPr id="1028" name="Picture 4" descr="Solar Group">
            <a:extLst>
              <a:ext uri="{FF2B5EF4-FFF2-40B4-BE49-F238E27FC236}">
                <a16:creationId xmlns:a16="http://schemas.microsoft.com/office/drawing/2014/main" id="{974AB0C8-7B20-F688-BC77-99FFB43E8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241" y="788520"/>
            <a:ext cx="61912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47457" y="549098"/>
            <a:ext cx="6998375" cy="87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050"/>
              </a:lnSpc>
            </a:pPr>
            <a:r>
              <a:rPr lang="en-IN" sz="3250" dirty="0">
                <a:solidFill>
                  <a:srgbClr val="FFFFFF"/>
                </a:solidFill>
                <a:latin typeface="Unbounded" pitchFamily="34" charset="0"/>
              </a:rPr>
              <a:t>Safety Training </a:t>
            </a:r>
            <a:r>
              <a:rPr lang="en-US" sz="3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&amp; Protocols </a:t>
            </a:r>
            <a:endParaRPr lang="en-US" sz="3250" dirty="0">
              <a:solidFill>
                <a:srgbClr val="FFFFFF"/>
              </a:solidFill>
              <a:latin typeface="Unbounded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74025" y="2568654"/>
            <a:ext cx="6430566" cy="121920"/>
          </a:xfrm>
          <a:prstGeom prst="roundRect">
            <a:avLst>
              <a:gd name="adj" fmla="val 27209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0" y="2267426"/>
            <a:ext cx="663416" cy="663416"/>
          </a:xfrm>
          <a:prstGeom prst="roundRect">
            <a:avLst>
              <a:gd name="adj" fmla="val 137832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6673" y="2466499"/>
            <a:ext cx="265271" cy="2652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5821" y="3278743"/>
            <a:ext cx="3465195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IN" sz="2000" dirty="0">
                <a:solidFill>
                  <a:schemeClr val="bg1"/>
                </a:solidFill>
                <a:latin typeface="Unbounded" pitchFamily="34" charset="0"/>
              </a:rPr>
              <a:t>General Safety</a:t>
            </a:r>
            <a:endParaRPr lang="en-US" sz="2000" dirty="0">
              <a:solidFill>
                <a:schemeClr val="bg1"/>
              </a:solidFill>
              <a:latin typeface="Unbounded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425690" y="2568654"/>
            <a:ext cx="6430685" cy="121920"/>
          </a:xfrm>
          <a:prstGeom prst="roundRect">
            <a:avLst>
              <a:gd name="adj" fmla="val 27209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10309265" y="2267426"/>
            <a:ext cx="663416" cy="663416"/>
          </a:xfrm>
          <a:prstGeom prst="roundRect">
            <a:avLst>
              <a:gd name="adj" fmla="val 137832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08337" y="2466499"/>
            <a:ext cx="265271" cy="26527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77269" y="3151942"/>
            <a:ext cx="3579376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6" name="Shape 12"/>
          <p:cNvSpPr/>
          <p:nvPr/>
        </p:nvSpPr>
        <p:spPr>
          <a:xfrm>
            <a:off x="774025" y="5444847"/>
            <a:ext cx="6430566" cy="121920"/>
          </a:xfrm>
          <a:prstGeom prst="roundRect">
            <a:avLst>
              <a:gd name="adj" fmla="val 27209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17" name="Shape 13"/>
          <p:cNvSpPr/>
          <p:nvPr/>
        </p:nvSpPr>
        <p:spPr>
          <a:xfrm>
            <a:off x="3657600" y="5143619"/>
            <a:ext cx="663416" cy="663416"/>
          </a:xfrm>
          <a:prstGeom prst="roundRect">
            <a:avLst>
              <a:gd name="adj" fmla="val 137832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56673" y="5342692"/>
            <a:ext cx="265271" cy="26527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5821" y="5960937"/>
            <a:ext cx="3345656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IN" sz="2000" dirty="0">
                <a:solidFill>
                  <a:schemeClr val="bg1"/>
                </a:solidFill>
                <a:latin typeface="Unbounded" pitchFamily="34" charset="0"/>
              </a:rPr>
              <a:t>Permits and SOPs</a:t>
            </a:r>
            <a:endParaRPr lang="en-US" sz="2000" dirty="0">
              <a:solidFill>
                <a:schemeClr val="bg1"/>
              </a:solidFill>
              <a:latin typeface="Unbounded" pitchFamily="34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7425690" y="5444847"/>
            <a:ext cx="6430685" cy="121920"/>
          </a:xfrm>
          <a:prstGeom prst="roundRect">
            <a:avLst>
              <a:gd name="adj" fmla="val 27209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10309265" y="5143619"/>
            <a:ext cx="663416" cy="663416"/>
          </a:xfrm>
          <a:prstGeom prst="roundRect">
            <a:avLst>
              <a:gd name="adj" fmla="val 137832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08337" y="5342692"/>
            <a:ext cx="265271" cy="26527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77269" y="6028134"/>
            <a:ext cx="394323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550"/>
              </a:lnSpc>
              <a:buNone/>
            </a:pPr>
            <a:r>
              <a:rPr lang="en-IN" sz="2000" dirty="0">
                <a:solidFill>
                  <a:schemeClr val="bg1"/>
                </a:solidFill>
                <a:latin typeface="Unbounded" pitchFamily="34" charset="0"/>
              </a:rPr>
              <a:t>Decontamination</a:t>
            </a:r>
            <a:endParaRPr lang="en-US" sz="2000" dirty="0">
              <a:solidFill>
                <a:schemeClr val="bg1"/>
              </a:solidFill>
              <a:latin typeface="Unbounded" pitchFamily="34" charset="0"/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BCF6CF12-528C-9502-DA9E-E80BD37C3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25" y="3795649"/>
            <a:ext cx="5702975" cy="1133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fontAlgn="base">
              <a:lnSpc>
                <a:spcPts val="27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700" dirty="0">
                <a:solidFill>
                  <a:schemeClr val="bg1"/>
                </a:solidFill>
                <a:latin typeface="Cabin" pitchFamily="34" charset="0"/>
              </a:rPr>
              <a:t>Awareness of plant rules and safety signage</a:t>
            </a:r>
          </a:p>
          <a:p>
            <a:pPr marL="285750" marR="0" lvl="0" indent="-285750" fontAlgn="base">
              <a:lnSpc>
                <a:spcPts val="27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700" dirty="0">
                <a:solidFill>
                  <a:schemeClr val="bg1"/>
                </a:solidFill>
                <a:latin typeface="Cabin" pitchFamily="34" charset="0"/>
              </a:rPr>
              <a:t>Proper use of Personal Protective Equipment (PPE)</a:t>
            </a:r>
          </a:p>
          <a:p>
            <a:pPr marL="285750" marR="0" lvl="0" indent="-285750" fontAlgn="base">
              <a:lnSpc>
                <a:spcPts val="27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700" dirty="0">
                <a:solidFill>
                  <a:schemeClr val="bg1"/>
                </a:solidFill>
                <a:latin typeface="Cabin" pitchFamily="34" charset="0"/>
              </a:rPr>
              <a:t>Safe movement inside plant and restricted zones</a:t>
            </a:r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33D7880B-2051-3226-4A88-EE358C259AA0}"/>
              </a:ext>
            </a:extLst>
          </p:cNvPr>
          <p:cNvSpPr/>
          <p:nvPr/>
        </p:nvSpPr>
        <p:spPr>
          <a:xfrm>
            <a:off x="7677269" y="3286986"/>
            <a:ext cx="3345656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IN" sz="2000" dirty="0">
                <a:solidFill>
                  <a:schemeClr val="bg1"/>
                </a:solidFill>
                <a:latin typeface="Unbounded" pitchFamily="34" charset="0"/>
              </a:rPr>
              <a:t>Fire Safety</a:t>
            </a:r>
            <a:endParaRPr lang="en-US" sz="2000" dirty="0">
              <a:solidFill>
                <a:schemeClr val="bg1"/>
              </a:solidFill>
              <a:latin typeface="Unbounded" pitchFamily="34" charset="0"/>
            </a:endParaRPr>
          </a:p>
        </p:txBody>
      </p:sp>
      <p:sp>
        <p:nvSpPr>
          <p:cNvPr id="32" name="Rectangle 5">
            <a:extLst>
              <a:ext uri="{FF2B5EF4-FFF2-40B4-BE49-F238E27FC236}">
                <a16:creationId xmlns:a16="http://schemas.microsoft.com/office/drawing/2014/main" id="{C2ED7E04-DC14-BFE5-CD7A-C6B873FBA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7269" y="3779684"/>
            <a:ext cx="5586786" cy="1133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fontAlgn="base">
              <a:lnSpc>
                <a:spcPts val="275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00" dirty="0">
                <a:solidFill>
                  <a:schemeClr val="bg1"/>
                </a:solidFill>
                <a:latin typeface="Cabin" pitchFamily="34" charset="0"/>
              </a:rPr>
              <a:t>Identification of fire hazards</a:t>
            </a:r>
          </a:p>
          <a:p>
            <a:pPr marL="285750" indent="-285750" fontAlgn="base">
              <a:lnSpc>
                <a:spcPts val="275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00" dirty="0">
                <a:solidFill>
                  <a:schemeClr val="bg1"/>
                </a:solidFill>
                <a:latin typeface="Cabin" pitchFamily="34" charset="0"/>
              </a:rPr>
              <a:t>Use of fire extinguishers</a:t>
            </a:r>
          </a:p>
          <a:p>
            <a:pPr marL="285750" indent="-285750" fontAlgn="base">
              <a:lnSpc>
                <a:spcPts val="275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00" dirty="0">
                <a:solidFill>
                  <a:schemeClr val="bg1"/>
                </a:solidFill>
                <a:latin typeface="Cabin" pitchFamily="34" charset="0"/>
              </a:rPr>
              <a:t>Emergency evacuation procedures and assembly points</a:t>
            </a:r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F7D4F2F0-CDEB-5C70-3FBA-7BCD4FE9E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25" y="6407605"/>
            <a:ext cx="5186035" cy="1133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fontAlgn="base">
              <a:lnSpc>
                <a:spcPts val="275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00" dirty="0">
                <a:solidFill>
                  <a:schemeClr val="bg1"/>
                </a:solidFill>
                <a:latin typeface="Cabin" pitchFamily="34" charset="0"/>
              </a:rPr>
              <a:t>Importance of work permits for hazardous activities</a:t>
            </a:r>
          </a:p>
          <a:p>
            <a:pPr marL="285750" indent="-285750" fontAlgn="base">
              <a:lnSpc>
                <a:spcPts val="275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00" dirty="0">
                <a:solidFill>
                  <a:schemeClr val="bg1"/>
                </a:solidFill>
                <a:latin typeface="Cabin" pitchFamily="34" charset="0"/>
              </a:rPr>
              <a:t>Following Standard Operating Procedures (SOPs)</a:t>
            </a:r>
          </a:p>
          <a:p>
            <a:pPr marL="285750" indent="-285750" fontAlgn="base">
              <a:lnSpc>
                <a:spcPts val="275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00" dirty="0">
                <a:solidFill>
                  <a:schemeClr val="bg1"/>
                </a:solidFill>
                <a:latin typeface="Cabin" pitchFamily="34" charset="0"/>
              </a:rPr>
              <a:t>Ensuring safe and authorized work execution</a:t>
            </a:r>
          </a:p>
        </p:txBody>
      </p:sp>
      <p:sp>
        <p:nvSpPr>
          <p:cNvPr id="36" name="Rectangle 8">
            <a:extLst>
              <a:ext uri="{FF2B5EF4-FFF2-40B4-BE49-F238E27FC236}">
                <a16:creationId xmlns:a16="http://schemas.microsoft.com/office/drawing/2014/main" id="{B8FB38CD-9DBB-0363-E7F5-9EEA3B790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3917" y="6579315"/>
            <a:ext cx="5828840" cy="1133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fontAlgn="base">
              <a:lnSpc>
                <a:spcPts val="27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700" dirty="0">
                <a:solidFill>
                  <a:schemeClr val="bg1"/>
                </a:solidFill>
                <a:latin typeface="Cabin" pitchFamily="34" charset="0"/>
              </a:rPr>
              <a:t>Procedures to remove hazardous substances</a:t>
            </a:r>
          </a:p>
          <a:p>
            <a:pPr marL="285750" marR="0" lvl="0" indent="-285750" fontAlgn="base">
              <a:lnSpc>
                <a:spcPts val="27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700" dirty="0">
                <a:solidFill>
                  <a:schemeClr val="bg1"/>
                </a:solidFill>
                <a:latin typeface="Cabin" pitchFamily="34" charset="0"/>
              </a:rPr>
              <a:t>Personal and equipment decontamination practices</a:t>
            </a:r>
          </a:p>
          <a:p>
            <a:pPr marL="285750" marR="0" lvl="0" indent="-285750" fontAlgn="base">
              <a:lnSpc>
                <a:spcPts val="27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700" dirty="0">
                <a:solidFill>
                  <a:schemeClr val="bg1"/>
                </a:solidFill>
                <a:latin typeface="Cabin" pitchFamily="34" charset="0"/>
              </a:rPr>
              <a:t>Maintaining hygiene and preventing contamination spread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7483ED-415F-B5A6-9A6E-9A68FBD8A516}"/>
              </a:ext>
            </a:extLst>
          </p:cNvPr>
          <p:cNvSpPr txBox="1"/>
          <p:nvPr/>
        </p:nvSpPr>
        <p:spPr>
          <a:xfrm>
            <a:off x="2855101" y="1418769"/>
            <a:ext cx="9477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Unbounded" pitchFamily="34" charset="0"/>
              </a:rPr>
              <a:t>The company strictly follows a Zero Accident Safety Policy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39" name="Picture 4" descr="Solar Group">
            <a:extLst>
              <a:ext uri="{FF2B5EF4-FFF2-40B4-BE49-F238E27FC236}">
                <a16:creationId xmlns:a16="http://schemas.microsoft.com/office/drawing/2014/main" id="{F4C1FA81-AFB2-0A6E-E61D-3738FF13D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4410" y="178368"/>
            <a:ext cx="1606497" cy="370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5000"/>
            <a:lum/>
          </a:blip>
          <a:srcRect/>
          <a:stretch>
            <a:fillRect l="-1000" t="-1000" r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6218" y="656749"/>
            <a:ext cx="9352961" cy="1097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450" dirty="0">
                <a:solidFill>
                  <a:schemeClr val="tx1">
                    <a:lumMod val="95000"/>
                    <a:lumOff val="5000"/>
                  </a:scheme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Chakdoh IIoT Platform: Real-time Monitoring &amp; Industry 4.0</a:t>
            </a:r>
            <a:endParaRPr lang="en-US" sz="34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816650" y="2221349"/>
            <a:ext cx="4176832" cy="2786182"/>
          </a:xfrm>
          <a:prstGeom prst="roundRect">
            <a:avLst>
              <a:gd name="adj" fmla="val 1256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07770" y="2454593"/>
            <a:ext cx="3394591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Real-time Monitoring</a:t>
            </a:r>
            <a:endParaRPr lang="en-US" sz="215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049893" y="2937629"/>
            <a:ext cx="3710345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Live tracking of plant machinery, production metrics, and TPM integration for comprehensive operational visibility.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226725" y="2221349"/>
            <a:ext cx="4176832" cy="2786182"/>
          </a:xfrm>
          <a:prstGeom prst="roundRect">
            <a:avLst>
              <a:gd name="adj" fmla="val 1256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942648" y="2454593"/>
            <a:ext cx="2744986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Asset Tracking</a:t>
            </a:r>
            <a:endParaRPr lang="en-US" sz="215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459968" y="2937629"/>
            <a:ext cx="3710345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Digital monitoring of sensitive inventory and explosive distribution with e-detonator tracking for enhanced security and accountability.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9636800" y="2221349"/>
            <a:ext cx="4176832" cy="2786182"/>
          </a:xfrm>
          <a:prstGeom prst="roundRect">
            <a:avLst>
              <a:gd name="adj" fmla="val 1256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870043" y="2454593"/>
            <a:ext cx="3710345" cy="68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Predictive Maintenance</a:t>
            </a:r>
            <a:endParaRPr lang="en-US" sz="215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870043" y="3280767"/>
            <a:ext cx="3710345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AI-driven sensors predict equipment failure before it happens, reducing unplanned downtime and maintenance costs.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6650" y="5240774"/>
            <a:ext cx="12996982" cy="1322903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48939" y="5474018"/>
            <a:ext cx="4932283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Analytics &amp; Optimization</a:t>
            </a:r>
            <a:endParaRPr lang="en-US" sz="215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49893" y="5957054"/>
            <a:ext cx="12530495" cy="37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Management dashboards optimize energy consumption, raw material flow, and production efficiency across all operations.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6650" y="6826091"/>
            <a:ext cx="12997101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This intricate network of sensors and analytics within the Chakdoh IIoT platform provides immediate operational overview, enabling proactive decision-making and preventing potential issues while driving Industry 4.0 transformation.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6" name="Picture 4" descr="Solar Group">
            <a:extLst>
              <a:ext uri="{FF2B5EF4-FFF2-40B4-BE49-F238E27FC236}">
                <a16:creationId xmlns:a16="http://schemas.microsoft.com/office/drawing/2014/main" id="{633B5EA2-6B02-5380-AAEE-D07F0E631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4410" y="178368"/>
            <a:ext cx="1606497" cy="370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alphaModFix amt="55000"/>
            <a:lum/>
          </a:blip>
          <a:srcRect/>
          <a:stretch>
            <a:fillRect l="-1000" t="-1000" r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89778" y="622340"/>
            <a:ext cx="9901064" cy="1092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50"/>
              </a:lnSpc>
              <a:buNone/>
            </a:pPr>
            <a:r>
              <a:rPr lang="en-US" sz="34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Chakhdoh IIoT Platform: Real-time Critical Parameter Monitoring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288375" y="2448163"/>
            <a:ext cx="3402806" cy="34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21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Temperature Control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12244" y="2928580"/>
            <a:ext cx="3878937" cy="1113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1800" dirty="0">
                <a:latin typeface="Cabin" pitchFamily="34" charset="0"/>
                <a:ea typeface="Cabin" pitchFamily="34" charset="-122"/>
                <a:cs typeface="Cabin" pitchFamily="34" charset="-120"/>
              </a:rPr>
              <a:t>Precise monitoring of temperature across all critical processing units, preventing anomalies.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201" y="2194322"/>
            <a:ext cx="4551998" cy="455199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5421" y="2993112"/>
            <a:ext cx="347186" cy="3471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9218" y="2448163"/>
            <a:ext cx="3259217" cy="34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Pressure Regulation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9939218" y="2928580"/>
            <a:ext cx="3878937" cy="1113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latin typeface="Cabin" pitchFamily="34" charset="0"/>
                <a:ea typeface="Cabin" pitchFamily="34" charset="-122"/>
                <a:cs typeface="Cabin" pitchFamily="34" charset="-120"/>
              </a:rPr>
              <a:t>Continuous tracking of pressure levels to ensure optimal and safe operating conditions.</a:t>
            </a:r>
            <a:endParaRPr lang="en-US" sz="1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9201" y="2194322"/>
            <a:ext cx="4551998" cy="455199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44984" y="3380423"/>
            <a:ext cx="347186" cy="34718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9218" y="4898231"/>
            <a:ext cx="3684389" cy="34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Chemical Composition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9939218" y="5378648"/>
            <a:ext cx="3878937" cy="1113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latin typeface="Cabin" pitchFamily="34" charset="0"/>
                <a:ea typeface="Cabin" pitchFamily="34" charset="-122"/>
                <a:cs typeface="Cabin" pitchFamily="34" charset="-120"/>
              </a:rPr>
              <a:t>Real-time analysis of chemical blends for consistent quality and adherence to specifications.</a:t>
            </a:r>
            <a:endParaRPr lang="en-US" sz="18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9201" y="2194322"/>
            <a:ext cx="4551998" cy="4551998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57674" y="5599986"/>
            <a:ext cx="347186" cy="347186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72979" y="4898231"/>
            <a:ext cx="3718203" cy="34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21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Environmental Factors</a:t>
            </a:r>
            <a:endParaRPr lang="en-US" sz="2100" dirty="0"/>
          </a:p>
        </p:txBody>
      </p:sp>
      <p:sp>
        <p:nvSpPr>
          <p:cNvPr id="16" name="Text 8"/>
          <p:cNvSpPr/>
          <p:nvPr/>
        </p:nvSpPr>
        <p:spPr>
          <a:xfrm>
            <a:off x="812244" y="5378648"/>
            <a:ext cx="3878937" cy="1113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1800" dirty="0">
                <a:latin typeface="Cabin" pitchFamily="34" charset="0"/>
                <a:ea typeface="Cabin" pitchFamily="34" charset="-122"/>
                <a:cs typeface="Cabin" pitchFamily="34" charset="-120"/>
              </a:rPr>
              <a:t>Monitoring humidity and other environmental parameters crucial for material integrity and safety.</a:t>
            </a:r>
            <a:endParaRPr lang="en-US" sz="18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39201" y="2194322"/>
            <a:ext cx="4551998" cy="4551998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38111" y="5212675"/>
            <a:ext cx="347186" cy="347186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812244" y="7007304"/>
            <a:ext cx="13005911" cy="74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latin typeface="Cabin" pitchFamily="34" charset="0"/>
                <a:ea typeface="Cabin" pitchFamily="34" charset="-122"/>
                <a:cs typeface="Cabin" pitchFamily="34" charset="-120"/>
              </a:rPr>
              <a:t>This intricate network of sensors and analytics within Chakhdoh provides an immediate overview, enabling proactive decision-making and preventing potential issues.</a:t>
            </a:r>
            <a:endParaRPr lang="en-US" sz="1800" dirty="0"/>
          </a:p>
        </p:txBody>
      </p:sp>
      <p:pic>
        <p:nvPicPr>
          <p:cNvPr id="20" name="Picture 4" descr="Solar Group">
            <a:extLst>
              <a:ext uri="{FF2B5EF4-FFF2-40B4-BE49-F238E27FC236}">
                <a16:creationId xmlns:a16="http://schemas.microsoft.com/office/drawing/2014/main" id="{A816DF60-CA47-838D-1C45-BEEDDBA81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4410" y="178368"/>
            <a:ext cx="1606497" cy="370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6151" y="499824"/>
            <a:ext cx="11623477" cy="427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Production Monitoring &amp; Optimisation through Chakhdoh</a:t>
            </a:r>
            <a:endParaRPr lang="en-US" sz="2650" dirty="0">
              <a:solidFill>
                <a:schemeClr val="bg1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51" y="1404580"/>
            <a:ext cx="6457355" cy="645735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44514" y="1404580"/>
            <a:ext cx="727115" cy="1394103"/>
          </a:xfrm>
          <a:prstGeom prst="roundRect">
            <a:avLst>
              <a:gd name="adj" fmla="val 360003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7771686" y="1931194"/>
            <a:ext cx="272653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8453318" y="1586270"/>
            <a:ext cx="2412444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Efficiency Tracking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8453318" y="2035254"/>
            <a:ext cx="5548551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Monitor production line speeds, throughput, and downtime in real-time to identify bottlenecks.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544514" y="2980373"/>
            <a:ext cx="727115" cy="1394103"/>
          </a:xfrm>
          <a:prstGeom prst="roundRect">
            <a:avLst>
              <a:gd name="adj" fmla="val 360003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771686" y="3506986"/>
            <a:ext cx="272653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8453318" y="3162062"/>
            <a:ext cx="2328743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Quality Assurance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8453318" y="3611047"/>
            <a:ext cx="5548551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Automated checks and data logging ensure consistent product quality and traceability.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544514" y="4556165"/>
            <a:ext cx="727115" cy="1394103"/>
          </a:xfrm>
          <a:prstGeom prst="roundRect">
            <a:avLst>
              <a:gd name="adj" fmla="val 360003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7771686" y="5082778"/>
            <a:ext cx="272653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8453318" y="4737854"/>
            <a:ext cx="3022163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Predictive Maintenance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8453318" y="5186839"/>
            <a:ext cx="5548551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Leverage AI-driven insights to predict equipment failures, reducing unplanned outages and costs.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544514" y="6131957"/>
            <a:ext cx="727115" cy="1394103"/>
          </a:xfrm>
          <a:prstGeom prst="roundRect">
            <a:avLst>
              <a:gd name="adj" fmla="val 360003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7771686" y="6658570"/>
            <a:ext cx="272653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8453318" y="6313646"/>
            <a:ext cx="2991445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Resource Management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8453318" y="6762631"/>
            <a:ext cx="5548551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Optimise energy consumption and raw material usage, leading to significant cost savings and environmental benefits.</a:t>
            </a:r>
            <a:endParaRPr lang="en-US" sz="1400" dirty="0"/>
          </a:p>
        </p:txBody>
      </p:sp>
      <p:pic>
        <p:nvPicPr>
          <p:cNvPr id="22" name="Picture 4" descr="Solar Group">
            <a:extLst>
              <a:ext uri="{FF2B5EF4-FFF2-40B4-BE49-F238E27FC236}">
                <a16:creationId xmlns:a16="http://schemas.microsoft.com/office/drawing/2014/main" id="{B1ADEE14-30A5-4ED9-9970-3D05128CF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4410" y="178368"/>
            <a:ext cx="1606497" cy="370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07540" y="755693"/>
            <a:ext cx="11170508" cy="958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750"/>
              </a:lnSpc>
            </a:pPr>
            <a:r>
              <a:rPr lang="en-US" sz="3200" dirty="0">
                <a:latin typeface="Unbounded" panose="020B0604020202020204" charset="0"/>
              </a:rPr>
              <a:t>Products of Solar Industries (</a:t>
            </a:r>
            <a:r>
              <a:rPr lang="en-US" sz="3200" dirty="0" err="1">
                <a:latin typeface="Unbounded" panose="020B0604020202020204" charset="0"/>
              </a:rPr>
              <a:t>Chakdoh</a:t>
            </a:r>
            <a:r>
              <a:rPr lang="en-US" sz="3200" dirty="0">
                <a:latin typeface="Unbounded" panose="020B0604020202020204" charset="0"/>
              </a:rPr>
              <a:t> Plant)</a:t>
            </a:r>
            <a:endParaRPr lang="en-US" sz="3000" dirty="0">
              <a:latin typeface="Unbounded" panose="020B0604020202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309759" y="1531636"/>
            <a:ext cx="10776045" cy="1304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50"/>
              </a:lnSpc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Chakdoh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plant, spreading over 550 acres near Nagpur, is the heart of Solar Industries India Limited's operations. Our manufacturing facilities are equipped with state-of-the-art technology, adhering to international quality and safety standards. We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specialise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in a diverse range of products essential for various industries.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3289016" y="3097495"/>
            <a:ext cx="3756898" cy="2133719"/>
          </a:xfrm>
          <a:prstGeom prst="roundRect">
            <a:avLst>
              <a:gd name="adj" fmla="val 1433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3492732" y="3301211"/>
            <a:ext cx="2916198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Industrial Explosives</a:t>
            </a:r>
            <a:endParaRPr lang="en-US" sz="185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3492732" y="3723049"/>
            <a:ext cx="3349466" cy="1304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Packaged Explosives (Slurry and Emulsion-based) for mining and construction. Bulk Explosives loaded directly at mine sites via pump trucks.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7249630" y="3097495"/>
            <a:ext cx="3757017" cy="2133719"/>
          </a:xfrm>
          <a:prstGeom prst="roundRect">
            <a:avLst>
              <a:gd name="adj" fmla="val 1433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453346" y="3301211"/>
            <a:ext cx="2582108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Initiating Systems</a:t>
            </a:r>
            <a:endParaRPr lang="en-US" sz="185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7453346" y="3723049"/>
            <a:ext cx="3349585" cy="1304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Electronic and Non-electric Detonators, Detonating Cords, and Cast Boosters for controlled blasting operations.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89015" y="5548268"/>
            <a:ext cx="7717631" cy="1481495"/>
          </a:xfrm>
          <a:prstGeom prst="roundRect">
            <a:avLst>
              <a:gd name="adj" fmla="val 2063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3492732" y="5638646"/>
            <a:ext cx="2500074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Defence Portfolio</a:t>
            </a:r>
            <a:endParaRPr lang="en-US" sz="1850" dirty="0">
              <a:solidFill>
                <a:schemeClr val="bg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3492732" y="6060484"/>
            <a:ext cx="7310199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 Energy Materials (HMX, RDX, TNT), Modern Weaponry including Pinaka Rockets, Nagastra-1 Loitering Munition, and 30mm Ammunition.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77B2B6-553D-00BB-B070-F9FD569E5400}"/>
              </a:ext>
            </a:extLst>
          </p:cNvPr>
          <p:cNvSpPr txBox="1"/>
          <p:nvPr/>
        </p:nvSpPr>
        <p:spPr>
          <a:xfrm>
            <a:off x="2307540" y="7319743"/>
            <a:ext cx="92032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bin" pitchFamily="34" charset="0"/>
              </a:rPr>
              <a:t>All products are manufactured under strict safety, quality, and regulatory standards.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Cabin" pitchFamily="34" charset="0"/>
            </a:endParaRPr>
          </a:p>
        </p:txBody>
      </p:sp>
      <p:pic>
        <p:nvPicPr>
          <p:cNvPr id="18" name="Picture 4" descr="Solar Group">
            <a:extLst>
              <a:ext uri="{FF2B5EF4-FFF2-40B4-BE49-F238E27FC236}">
                <a16:creationId xmlns:a16="http://schemas.microsoft.com/office/drawing/2014/main" id="{445D1916-B34C-D796-297C-5EFE9382E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4410" y="178368"/>
            <a:ext cx="1606497" cy="370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13455" y="880466"/>
            <a:ext cx="8813797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Providing Diverse Industry Needs</a:t>
            </a:r>
            <a:endParaRPr lang="en-US" sz="3450" dirty="0">
              <a:solidFill>
                <a:schemeClr val="bg1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769" y="2220158"/>
            <a:ext cx="4133255" cy="25544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1769" y="5009436"/>
            <a:ext cx="3128843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Mining &amp; Quarrying</a:t>
            </a:r>
            <a:endParaRPr lang="en-US" sz="215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821769" y="5495568"/>
            <a:ext cx="4133255" cy="1126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Providing bulk and packaged explosives for efficient extraction of minerals and aggregates.</a:t>
            </a:r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513" y="2220158"/>
            <a:ext cx="4133255" cy="25544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8513" y="5009436"/>
            <a:ext cx="4133255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Construction &amp; Infrastructure</a:t>
            </a:r>
            <a:endParaRPr lang="en-US" sz="2150" dirty="0">
              <a:solidFill>
                <a:schemeClr val="bg1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5248513" y="5840849"/>
            <a:ext cx="4133255" cy="751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Supporting large-scale civil engineering projects with reliable blasting solutions.</a:t>
            </a:r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5257" y="2220158"/>
            <a:ext cx="4133255" cy="255448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5257" y="5009436"/>
            <a:ext cx="2809518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Defence &amp; Space</a:t>
            </a:r>
            <a:endParaRPr lang="en-US" sz="2150" dirty="0">
              <a:solidFill>
                <a:schemeClr val="bg1"/>
              </a:solidFill>
            </a:endParaRPr>
          </a:p>
        </p:txBody>
      </p:sp>
      <p:sp>
        <p:nvSpPr>
          <p:cNvPr id="11" name="Text 6"/>
          <p:cNvSpPr/>
          <p:nvPr/>
        </p:nvSpPr>
        <p:spPr>
          <a:xfrm>
            <a:off x="9675257" y="5495568"/>
            <a:ext cx="4133255" cy="1126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Developing advanced energetic materials for defence, aerospace, and space exploration.</a:t>
            </a:r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13" name="Picture 4" descr="Solar Group">
            <a:extLst>
              <a:ext uri="{FF2B5EF4-FFF2-40B4-BE49-F238E27FC236}">
                <a16:creationId xmlns:a16="http://schemas.microsoft.com/office/drawing/2014/main" id="{D40BDD34-BACB-08C9-0949-BE13D35A6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4410" y="178368"/>
            <a:ext cx="1606497" cy="370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8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Triangle 26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92064" y="4003040"/>
            <a:ext cx="3950208" cy="384048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128" y="747930"/>
            <a:ext cx="13086064" cy="6729458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DF1B6B-F8BC-F3B3-A656-48E32ED208BD}"/>
              </a:ext>
            </a:extLst>
          </p:cNvPr>
          <p:cNvSpPr txBox="1"/>
          <p:nvPr/>
        </p:nvSpPr>
        <p:spPr>
          <a:xfrm>
            <a:off x="1542289" y="1210791"/>
            <a:ext cx="11077692" cy="42504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3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Picture 4" descr="Solar Group">
            <a:extLst>
              <a:ext uri="{FF2B5EF4-FFF2-40B4-BE49-F238E27FC236}">
                <a16:creationId xmlns:a16="http://schemas.microsoft.com/office/drawing/2014/main" id="{2822C59C-DB99-5819-2EBE-9B9E3641D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4410" y="178368"/>
            <a:ext cx="1606497" cy="370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655</Words>
  <Application>Microsoft Office PowerPoint</Application>
  <PresentationFormat>Custom</PresentationFormat>
  <Paragraphs>83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Cabin</vt:lpstr>
      <vt:lpstr>Unbounded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anuj rahile</cp:lastModifiedBy>
  <cp:revision>4</cp:revision>
  <dcterms:created xsi:type="dcterms:W3CDTF">2026-01-05T05:54:23Z</dcterms:created>
  <dcterms:modified xsi:type="dcterms:W3CDTF">2026-01-05T07:13:48Z</dcterms:modified>
</cp:coreProperties>
</file>